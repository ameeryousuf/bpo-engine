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9" r:id="rId3"/>
    <p:sldId id="260" r:id="rId4"/>
    <p:sldId id="261" r:id="rId5"/>
    <p:sldId id="262" r:id="rId6"/>
    <p:sldId id="263" r:id="rId7"/>
    <p:sldId id="265" r:id="rId8"/>
    <p:sldId id="266" r:id="rId9"/>
    <p:sldId id="267" r:id="rId10"/>
    <p:sldId id="269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2951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Quantitative Business Process</a:t>
            </a:r>
            <a:endParaRPr lang="en-US" sz="38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 using Reinforcement Learning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 that reads a BPMN 2.0 process, measures its Time and Cost, and learns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proven redesign techniques to apply and in what order to improve both.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5623560"/>
            <a:ext cx="1600200" cy="502920"/>
          </a:xfrm>
          <a:prstGeom prst="roundRect">
            <a:avLst>
              <a:gd name="adj" fmla="val 10909"/>
            </a:avLst>
          </a:prstGeom>
          <a:solidFill>
            <a:srgbClr val="1C2130"/>
          </a:solidFill>
          <a:ln w="158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5820156"/>
            <a:ext cx="265176" cy="109728"/>
          </a:xfrm>
          <a:prstGeom prst="rightArrow">
            <a:avLst/>
          </a:prstGeom>
          <a:solidFill>
            <a:srgbClr val="4A52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0" y="5623560"/>
            <a:ext cx="1600200" cy="502920"/>
          </a:xfrm>
          <a:prstGeom prst="roundRect">
            <a:avLst>
              <a:gd name="adj" fmla="val 10909"/>
            </a:avLst>
          </a:prstGeom>
          <a:solidFill>
            <a:srgbClr val="1C2130"/>
          </a:solidFill>
          <a:ln w="158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0" y="56235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5820156"/>
            <a:ext cx="265176" cy="109728"/>
          </a:xfrm>
          <a:prstGeom prst="rightArrow">
            <a:avLst/>
          </a:prstGeom>
          <a:solidFill>
            <a:srgbClr val="4A52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5623560"/>
            <a:ext cx="1600200" cy="502920"/>
          </a:xfrm>
          <a:prstGeom prst="roundRect">
            <a:avLst>
              <a:gd name="adj" fmla="val 10909"/>
            </a:avLst>
          </a:prstGeom>
          <a:solidFill>
            <a:srgbClr val="1C2130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56235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1072" y="5820156"/>
            <a:ext cx="265176" cy="109728"/>
          </a:xfrm>
          <a:prstGeom prst="rightArrow">
            <a:avLst/>
          </a:prstGeom>
          <a:solidFill>
            <a:srgbClr val="4A52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583680" y="5623560"/>
            <a:ext cx="1600200" cy="502920"/>
          </a:xfrm>
          <a:prstGeom prst="roundRect">
            <a:avLst>
              <a:gd name="adj" fmla="val 10909"/>
            </a:avLst>
          </a:prstGeom>
          <a:solidFill>
            <a:srgbClr val="1C2130"/>
          </a:solidFill>
          <a:ln w="1587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56235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1312" y="5820156"/>
            <a:ext cx="265176" cy="109728"/>
          </a:xfrm>
          <a:prstGeom prst="rightArrow">
            <a:avLst/>
          </a:prstGeom>
          <a:solidFill>
            <a:srgbClr val="4A52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503920" y="5623560"/>
            <a:ext cx="1600200" cy="502920"/>
          </a:xfrm>
          <a:prstGeom prst="roundRect">
            <a:avLst>
              <a:gd name="adj" fmla="val 10909"/>
            </a:avLst>
          </a:prstGeom>
          <a:solidFill>
            <a:srgbClr val="1C2130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03920" y="56235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Ameer Yousuf Ali Bhatti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process in, a redesigned process 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965960" cy="82296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371600" y="2542032"/>
            <a:ext cx="502920" cy="50292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160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370332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BPMN 2.0 XML and every task's RACI, timing, and cost data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3374136"/>
            <a:ext cx="219456" cy="109728"/>
          </a:xfrm>
          <a:prstGeom prst="rightArrow">
            <a:avLst/>
          </a:prstGeom>
          <a:solidFill>
            <a:srgbClr val="8A8F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62072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862072" y="2286000"/>
            <a:ext cx="1965960" cy="82296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593592" y="2542032"/>
            <a:ext cx="502920" cy="50292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93592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99232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026664" y="370332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flowchart is structurally sound before analyzing it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3374136"/>
            <a:ext cx="219456" cy="109728"/>
          </a:xfrm>
          <a:prstGeom prst="rightArrow">
            <a:avLst/>
          </a:prstGeom>
          <a:solidFill>
            <a:srgbClr val="8A8F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84064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84064" y="2286000"/>
            <a:ext cx="1965960" cy="82296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815584" y="2542032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15584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221224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</a:t>
            </a:r>
            <a:endParaRPr lang="en-US" sz="15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(As-Is)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248656" y="370332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Cycle Time, Theoretical Cycle Time, and Cost using flow analysis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68312" y="3374136"/>
            <a:ext cx="219456" cy="109728"/>
          </a:xfrm>
          <a:prstGeom prst="rightArrow">
            <a:avLst/>
          </a:prstGeom>
          <a:solidFill>
            <a:srgbClr val="8A8F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06056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306056" y="2286000"/>
            <a:ext cx="1965960" cy="82296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37576" y="2542032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37576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43216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470648" y="370332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decide what's eligible; a trained agent decides what to actually change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290304" y="3374136"/>
            <a:ext cx="219456" cy="109728"/>
          </a:xfrm>
          <a:prstGeom prst="rightArrow">
            <a:avLst/>
          </a:prstGeom>
          <a:solidFill>
            <a:srgbClr val="8A8F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528048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528048" y="2286000"/>
            <a:ext cx="1965960" cy="82296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259568" y="2542032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259568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665208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692640" y="370332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vs To-Be numbers, redesigned diagram, and a full audit trail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–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and validating the process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57800" cy="82296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Read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487168"/>
            <a:ext cx="82296" cy="82296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BPMN 2.0 flowchart (tasks, gateways, sequence flows)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054096"/>
            <a:ext cx="82296" cy="82296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88720" y="29900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assignment per task — who's Responsible, Accountable, Consulted, Informed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621024"/>
            <a:ext cx="82296" cy="82296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88720" y="35570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process / waiting / rework time per task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0120" y="4187952"/>
            <a:ext cx="82296" cy="82296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88720" y="412394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role's hourly cost, job level, and department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0020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263640" y="1600200"/>
            <a:ext cx="5257800" cy="82296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Validate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583680" y="2423160"/>
            <a:ext cx="219456" cy="219456"/>
          </a:xfrm>
          <a:prstGeom prst="ellipse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0" y="24231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31152" y="239572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reachable from the start event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0" y="2990088"/>
            <a:ext cx="219456" cy="219456"/>
          </a:xfrm>
          <a:prstGeom prst="ellipse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583680" y="29900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31152" y="296265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step is missing a way out — no dead ends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0" y="3557016"/>
            <a:ext cx="219456" cy="219456"/>
          </a:xfrm>
          <a:prstGeom prst="ellipse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83680" y="35570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31152" y="35295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branch probabilities are complete and consistent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83680" y="4123944"/>
            <a:ext cx="219456" cy="219456"/>
          </a:xfrm>
          <a:prstGeom prst="ellipse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0" y="41239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31152" y="409651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flowchart is structurally sound before any analysis begins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the current process (As-Is)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flow-analysis formulas for sequences, decision splits, parallel work, and rework loops.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606040" cy="82296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 Time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per case, start to finish — including every wait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7288" y="21488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47288" y="2148840"/>
            <a:ext cx="2606040" cy="82296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30168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</a:t>
            </a:r>
            <a:endParaRPr lang="en-US" sz="15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 Time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630168" y="333756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but assuming zero waiting — pure working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4496" y="21488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254496" y="2148840"/>
            <a:ext cx="2606040" cy="82296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37376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 Time</a:t>
            </a:r>
            <a:endParaRPr lang="en-US" sz="15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Efficiency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37376" y="333756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÷ Cycle Time — how much of the process is real work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061704" y="21488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061704" y="2148840"/>
            <a:ext cx="2606040" cy="82296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244584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244584" y="333756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labor cost to run the process once, from every role's hourly rate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 has two separate layers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heuristic is eligible, and whether it's actually used, are two different questions.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5120640" cy="82296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2331720"/>
            <a:ext cx="457200" cy="45720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Rule-based qualification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9718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Deterministic. No learning involved. For every heuristic, the system checks a fixed set of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against every task for example, does anyone own this step, is a step's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 far longer than its working time, does a step reference an authority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company.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4572000"/>
            <a:ext cx="4480560" cy="1097280"/>
          </a:xfrm>
          <a:prstGeom prst="roundRect">
            <a:avLst>
              <a:gd name="adj" fmla="val 6667"/>
            </a:avLst>
          </a:prstGeom>
          <a:solidFill>
            <a:srgbClr val="E3F2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97280" y="4709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process state → same eligibility, every time.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produces a shortlist of what's legally possible right now.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06440" y="3877056"/>
            <a:ext cx="640080" cy="109728"/>
          </a:xfrm>
          <a:prstGeom prst="rightArrow">
            <a:avLst/>
          </a:prstGeom>
          <a:solidFill>
            <a:srgbClr val="8A8F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46520" y="2057400"/>
            <a:ext cx="50749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46520" y="2057400"/>
            <a:ext cx="5074920" cy="82296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20840" y="2331720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208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selection (RL)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20840" y="29718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only the heuristics that qualified, a trained agent picks exactly one  whichever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learned tends to pay off best in this situation. Order matters: applying one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can open up, or close off, what qualifies next.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20840" y="4572000"/>
            <a:ext cx="4480560" cy="1097280"/>
          </a:xfrm>
          <a:prstGeom prst="roundRect">
            <a:avLst>
              <a:gd name="adj" fmla="val 6667"/>
            </a:avLst>
          </a:prstGeom>
          <a:solidFill>
            <a:srgbClr val="FFF3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03720" y="4709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 does not always mean chosen.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heuristic can qualify and still be skipped if it isn't worth the step.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TOOLBOX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proven redesign heuristics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Reijers &amp; Mansar's redesign heuristics, catalogued in Dumas et al., Fundamentals of Business Process Management.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82296" cy="1417320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209397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Parallelism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26243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two independent steps at once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309067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0" y="19659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0" y="1965960"/>
            <a:ext cx="82296" cy="1417320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53712" y="209397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53712" y="26243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a step to a system instead of a person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53712" y="309067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+ COST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55280" y="19659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955280" y="1965960"/>
            <a:ext cx="82296" cy="1417320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11312" y="209397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11312" y="26243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step with no real owner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11312" y="309067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+ COST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40080" y="3520440"/>
            <a:ext cx="82296" cy="1417320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96112" y="364845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96112" y="417880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two small steps, same owner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96112" y="46451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297680" y="35204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297680" y="3520440"/>
            <a:ext cx="82296" cy="1417320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53712" y="364845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Case-Based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53712" y="417880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batching; handle cases as they arrive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53712" y="46451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955280" y="35204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955280" y="3520440"/>
            <a:ext cx="82296" cy="1417320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211312" y="364845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Bottleneck /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 Resource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211312" y="417880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capacity where a queue is genuinely stuck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211312" y="46451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↔ COST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40080" y="50749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40080" y="5074920"/>
            <a:ext cx="82296" cy="1417320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96112" y="520293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Empower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96112" y="573328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 rubber-stamp approval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96112" y="61996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+ COST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297680" y="50749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297680" y="5074920"/>
            <a:ext cx="82296" cy="1417320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553712" y="520293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Numerical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Involvement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4553712" y="573328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people only kept “in the loop”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53712" y="61996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55280" y="50749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7955280" y="5074920"/>
            <a:ext cx="82296" cy="1417320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211312" y="520293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Trusted Party /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Interfacing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8211312" y="573328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 outside authority's result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211312" y="61996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+ COST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agent learns which move to pick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606040" cy="73152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185623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04672" y="222199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Time/cost progress + which heuristics currently qualify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64408" y="2322576"/>
            <a:ext cx="128016" cy="109728"/>
          </a:xfrm>
          <a:prstGeom prst="rightArrow">
            <a:avLst/>
          </a:prstGeom>
          <a:solidFill>
            <a:srgbClr val="8A8F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10712" y="16916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10712" y="1691640"/>
            <a:ext cx="2606040" cy="73152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75304" y="185623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575304" y="222199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qualifying heuristic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2322576"/>
            <a:ext cx="128016" cy="109728"/>
          </a:xfrm>
          <a:prstGeom prst="rightArrow">
            <a:avLst/>
          </a:prstGeom>
          <a:solidFill>
            <a:srgbClr val="8A8F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81344" y="16916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81344" y="1691640"/>
            <a:ext cx="2606040" cy="73152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45936" y="185623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Reward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345936" y="222199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that move improved time and/or cost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805672" y="2322576"/>
            <a:ext cx="128016" cy="109728"/>
          </a:xfrm>
          <a:prstGeom prst="rightArrow">
            <a:avLst/>
          </a:prstGeom>
          <a:solidFill>
            <a:srgbClr val="8A8F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51976" y="16916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951976" y="1691640"/>
            <a:ext cx="2606040" cy="73152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16568" y="185623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Q-Table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116568" y="222199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scorecard, filled in through practice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48386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60120" y="33741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— 300 practice runs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977640" y="3374136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Tries different orders; sometimes explores randomly, sometimes uses what it already knows. Updates the scorecard after every move.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26110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60120" y="41513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run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977640" y="4151376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pick the highest-scoring qualifying heuristic, apply it, re-check the process, repeat.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3834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60120" y="492861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977640" y="4928616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nothing qualifies, a safety step-limit is hit, or the best remaining option isn't worth applying.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final report contains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520440" cy="82296"/>
          </a:xfrm>
          <a:prstGeom prst="round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/ After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Time, Theoretical Cycle Time,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 Efficiency, and Cost —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vs. To-Be, side by side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20440" cy="82296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0" y="2011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Redesigned Diagram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6060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BPMN 2.0 XML for both the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and redesigned process,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swimlanes and color coding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  <a:effectLst>
            <a:outerShdw blurRad="101600" dist="25400" dir="5400000" algn="bl" rotWithShape="0">
              <a:srgbClr val="12151C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046720" y="1737360"/>
            <a:ext cx="3520440" cy="82296"/>
          </a:xfrm>
          <a:prstGeom prst="round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75320" y="2011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 Trace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26060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heuristic: applied or not,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rules passed, the reason,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exact time/cost impact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REAL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Program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university subprocess deciding whether to launch or close an academic program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1C213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F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CYCLE TIME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1273.45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14400" y="33558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per case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97880" y="205740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1C2130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72200" y="2240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0A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 CYCLE TIME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25146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300.25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72200" y="33558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per case  —  76.4% faster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977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 15,125.83 PKR   →   14,631.46 PKR   (3.3% cheaper)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332720" cy="1691640"/>
          </a:xfrm>
          <a:prstGeom prst="roundRect">
            <a:avLst>
              <a:gd name="adj" fmla="val 4324"/>
            </a:avLst>
          </a:prstGeom>
          <a:solidFill>
            <a:srgbClr val="1C2130"/>
          </a:solidFill>
          <a:ln w="12700">
            <a:solidFill>
              <a:srgbClr val="E3E3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4709160"/>
            <a:ext cx="9784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heuristics fired in sequence. The single biggest win: Trusted Party accepted the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Education Commission's own approval instead of re-verifying internally, cutting a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48-hour wait to a tenth. Bottleneck then flagged the same step's owner as over-utilized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added capacity — trading a small cost increase for a further time cut. Composition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merged two small hand-off steps owned by the same person.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6"/>
          <p:cNvSpPr/>
          <p:nvPr/>
        </p:nvSpPr>
        <p:spPr>
          <a:xfrm>
            <a:off x="4860867" y="3246120"/>
            <a:ext cx="2470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944</Words>
  <Application>Microsoft Office PowerPoint</Application>
  <PresentationFormat>Widescreen</PresentationFormat>
  <Paragraphs>177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Ameer Yousuf Ali Bhatti</cp:lastModifiedBy>
  <cp:revision>6</cp:revision>
  <dcterms:created xsi:type="dcterms:W3CDTF">2026-07-21T03:32:44Z</dcterms:created>
  <dcterms:modified xsi:type="dcterms:W3CDTF">2026-07-21T05:22:39Z</dcterms:modified>
</cp:coreProperties>
</file>
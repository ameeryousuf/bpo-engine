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95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Business Process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using Reinforcement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that reads a BPMN 2.0 process, measures its Time and Cost, and learns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proven redesign techniques to apply and in what order to improve both.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62356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C2130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5820156"/>
            <a:ext cx="265176" cy="109728"/>
          </a:xfrm>
          <a:prstGeom prst="rightArrow">
            <a:avLst/>
          </a:prstGeom>
          <a:solidFill>
            <a:srgbClr val="4A52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562356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C2130"/>
          </a:solidFill>
          <a:ln w="15875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5820156"/>
            <a:ext cx="265176" cy="109728"/>
          </a:xfrm>
          <a:prstGeom prst="rightArrow">
            <a:avLst/>
          </a:prstGeom>
          <a:solidFill>
            <a:srgbClr val="4A52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562356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C2130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1072" y="5820156"/>
            <a:ext cx="265176" cy="109728"/>
          </a:xfrm>
          <a:prstGeom prst="rightArrow">
            <a:avLst/>
          </a:prstGeom>
          <a:solidFill>
            <a:srgbClr val="4A52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562356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C2130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5820156"/>
            <a:ext cx="265176" cy="109728"/>
          </a:xfrm>
          <a:prstGeom prst="rightArrow">
            <a:avLst/>
          </a:prstGeom>
          <a:solidFill>
            <a:srgbClr val="4A52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03920" y="562356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C2130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5623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Ameer Yousuf Ali Bhatti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 in, a redesigned process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6596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25420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BPMN 2.0 XML and every task's RACI, timing, and cost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3374136"/>
            <a:ext cx="21945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62072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2072" y="2286000"/>
            <a:ext cx="196596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93592" y="2542032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93592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9232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26664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flowchart is structurally sound before analyzing 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374136"/>
            <a:ext cx="21945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84064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4064" y="2286000"/>
            <a:ext cx="1965960" cy="8229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15584" y="25420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1558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21224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(As-Is)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48656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Cycle Time, Theoretical Cycle Time, and Cost using flow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68312" y="3374136"/>
            <a:ext cx="21945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06056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06056" y="2286000"/>
            <a:ext cx="1965960" cy="8229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3757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43216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70648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 what's eligible; a trained agent decides what to actually change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90304" y="3374136"/>
            <a:ext cx="21945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28048" y="228600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28048" y="2286000"/>
            <a:ext cx="1965960" cy="8229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259568" y="25420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595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65208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92640" y="370332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vs To-Be numbers, redesigned diagram, and a full audit trail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–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validating the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Read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487168"/>
            <a:ext cx="82296" cy="82296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BPMN 2.0 flowchart (tasks, gateways, sequence flows)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054096"/>
            <a:ext cx="82296" cy="82296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assignment per task — who's Responsible, Accountable, Consulted, Informed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621024"/>
            <a:ext cx="82296" cy="82296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557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process / waiting / rework time per task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187952"/>
            <a:ext cx="82296" cy="82296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role's hourly cost, job level, and department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257800" cy="8229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Validate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2423160"/>
            <a:ext cx="219456" cy="219456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31152" y="23957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reachable from the start event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990088"/>
            <a:ext cx="219456" cy="219456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31152" y="29626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is missing a way out — no dead ends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557016"/>
            <a:ext cx="219456" cy="219456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3557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3529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branch probabilities are complete and consistent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123944"/>
            <a:ext cx="219456" cy="219456"/>
          </a:xfrm>
          <a:prstGeom prst="ellipse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4123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40965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flowchart is structurally sound before any analysis begins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current process (As-Is)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flow-analysis formulas for sequences, decision splits, parallel work, and rework loops.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0604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Time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per case, start to finish — including every wait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47288" y="2148840"/>
            <a:ext cx="260604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0168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Time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30168" y="33375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assuming zero waiting — pure working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54496" y="2148840"/>
            <a:ext cx="2606040" cy="8229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37376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Time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33375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÷ Cycle Time — how much of the process is real 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21488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61704" y="2148840"/>
            <a:ext cx="2606040" cy="8229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44584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44584" y="33375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labor cost to run the process once, from every role's hourly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has two separate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heuristic is eligible, and whether it's actually used, are two different questions.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qualification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Deterministic. No learning involved. For every heuristic, the system checks a fixed set of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against every task for example, does anyone own this step, is a step's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far longer than its working time, does a step reference an authority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company.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5720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process state → same eligibility, every time.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produces a shortlist of what's legally possible right now.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3877056"/>
            <a:ext cx="640080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2057400"/>
            <a:ext cx="50749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2057400"/>
            <a:ext cx="5074920" cy="8229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20840" y="23317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selection (RL)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29718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only the heuristics that qualified, a trained agent picks exactly one  whichever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learned tends to pay off best in this situation. Order matters: applying one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can open up, or close off, what qualifies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45720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4709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does not always mean chosen.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can qualify and still be skipped if it isn't worth the step.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proven redesign heuristics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Reijers &amp; Mansar's redesign heuristics, catalogued in Dumas et al., Fundamentals of Business Process Management.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82296" cy="1417320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093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6243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independent steps at once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30906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82296" cy="1417320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53712" y="2093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6243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 step to a system instead of a person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53712" y="30906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COST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552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0" y="1965960"/>
            <a:ext cx="82296" cy="1417320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11312" y="2093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1312" y="26243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step with no real owner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11312" y="309067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COST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82296" cy="1417320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36484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4178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 small steps, same owner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" y="4645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520440"/>
            <a:ext cx="82296" cy="1417320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53712" y="36484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Case-Based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3712" y="4178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batching; handle cases as they arrive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53712" y="4645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552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955280" y="3520440"/>
            <a:ext cx="82296" cy="1417320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11312" y="36484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/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Resource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1312" y="4178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capacity where a queue is genuinely stuck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11312" y="4645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↔ COST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5074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" y="5074920"/>
            <a:ext cx="82296" cy="1417320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96112" y="52029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96112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rubber-stamp approval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96112" y="61996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COST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0" y="5074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297680" y="5074920"/>
            <a:ext cx="82296" cy="1417320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53712" y="52029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Involvement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53712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people only kept “in the loop”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53712" y="61996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55280" y="5074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955280" y="5074920"/>
            <a:ext cx="82296" cy="1417320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11312" y="52029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Party /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11312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 outside authority's result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211312" y="619963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COST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learns which move to pick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73152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Time/cost progress + which heuristics currently qualify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2322576"/>
            <a:ext cx="12801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06040" cy="73152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75304" y="18562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75304" y="222199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qualifying heuristic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322576"/>
            <a:ext cx="12801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691640"/>
            <a:ext cx="2606040" cy="73152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45936" y="18562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45936" y="222199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that move improved time and/or cost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05672" y="2322576"/>
            <a:ext cx="128016" cy="109728"/>
          </a:xfrm>
          <a:prstGeom prst="rightArrow">
            <a:avLst/>
          </a:prstGeom>
          <a:solidFill>
            <a:srgbClr val="8A8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51976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51976" y="1691640"/>
            <a:ext cx="2606040" cy="73152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16568" y="18562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Q-Table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16568" y="2221992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scorecard, filled in through practice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4838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3741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300 practice runs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7640" y="337413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different orders; sometimes explores randomly, sometimes uses what it already knows. Updates the scorecard after every move.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61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41513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run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977640" y="415137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highest-scoring qualifying heuristic, apply it, re-check the process, repeat.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0383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49286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977640" y="4928616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nothing qualifies, a safety step-limit is hit, or the best remaining option isn't worth applying.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cs typeface="Calibri" pitchFamily="34" charset="-120"/>
              </a:rPr>
              <a:t>07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final report contains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82296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Theoretical Cycle Time,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Efficiency, and Cost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vs. To-Be, side by side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8229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Redesigned Diagram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BPMN 2.0 XML for both the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and redesigned process,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swimlanes and color coding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25400" dir="5400000" algn="bl" rotWithShape="0">
              <a:srgbClr val="12151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8229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Trace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heuristic: applied or not,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passed, the reason,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exact time/cost impact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8A8F99"/>
                </a:solidFill>
                <a:latin typeface="Calibri" pitchFamily="34" charset="0"/>
                <a:cs typeface="Calibri" pitchFamily="34" charset="-120"/>
              </a:rPr>
              <a:t>08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REAL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Program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university subprocess deciding whether to launch or close an academic program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C213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CYCLE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1273.45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case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97880" y="20574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C2130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A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CYCLE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2514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300.25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72200" y="3355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case  —  76.4% faster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15,125.83 PKR   →   14,631.46 PKR   (3.3% cheaper)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332720" cy="1691640"/>
          </a:xfrm>
          <a:prstGeom prst="roundRect">
            <a:avLst>
              <a:gd name="adj" fmla="val 4324"/>
            </a:avLst>
          </a:prstGeom>
          <a:solidFill>
            <a:srgbClr val="1C2130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heuristics fired in sequence. The single biggest win: Trusted Party accepted the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Commission's own approval instead of re-verifying internally, cutting a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wait to a tenth. Bottleneck then flagged the same step's owner as over-utilized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added capacity — trading a small cost increase for a further time cut. Composition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merged two small hand-off steps owned by the same person.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09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860867" y="3246120"/>
            <a:ext cx="2470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943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Ameer Yousuf Ali Bhatti</cp:lastModifiedBy>
  <cp:revision>17</cp:revision>
  <dcterms:created xsi:type="dcterms:W3CDTF">2026-07-21T03:32:44Z</dcterms:created>
  <dcterms:modified xsi:type="dcterms:W3CDTF">2026-07-21T05:30:28Z</dcterms:modified>
</cp:coreProperties>
</file>